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 autoAdjust="0"/>
  </p:normalViewPr>
  <p:slideViewPr>
    <p:cSldViewPr snapToGrid="0" snapToObjects="1">
      <p:cViewPr>
        <p:scale>
          <a:sx n="80" d="100"/>
          <a:sy n="80" d="100"/>
        </p:scale>
        <p:origin x="754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502920"/>
            <a:ext cx="457200" cy="45720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070B15"/>
                </a:solidFill>
                <a:latin typeface="Bahnschrift SemiBold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548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EAF2FC"/>
                </a:solidFill>
                <a:latin typeface="Bahnschrift SemiBold"/>
              </a:rPr>
              <a:t>SENTINEL</a:t>
            </a:r>
            <a:r>
              <a:rPr sz="1200" b="0" i="0">
                <a:solidFill>
                  <a:srgbClr val="8FA3C0"/>
                </a:solidFill>
                <a:latin typeface="Segoe UI"/>
              </a:rPr>
              <a:t>   v0.1.0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57055" y="566928"/>
            <a:ext cx="2148840" cy="4572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57055" y="68580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LIVE  /  OFFLINE  /  PWA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470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HAPTIC CO-PILOT FOR PEOPLE WHO CANNOT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106070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600" b="0" i="0">
                <a:solidFill>
                  <a:srgbClr val="EAF2FC"/>
                </a:solidFill>
                <a:latin typeface="Bahnschrift SemiBold"/>
              </a:rPr>
              <a:t>SENTINEL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794760"/>
            <a:ext cx="1463040" cy="9144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8FA3C0"/>
                </a:solidFill>
                <a:latin typeface="Segoe UI Light"/>
              </a:rPr>
              <a:t>Most assistive tech narrates what you point at.  Sentinel watches the world for you - every car, crowd, kerb and crosswalk - and only speaks when it matters.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0E5C3"/>
                </a:solidFill>
                <a:latin typeface="Bahnschrift SemiBold"/>
              </a:rPr>
              <a:t>2.2B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97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A3C0"/>
                </a:solidFill>
                <a:latin typeface="Segoe UI"/>
              </a:rPr>
              <a:t>people with vision impairment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257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0E5C3"/>
                </a:solidFill>
                <a:latin typeface="Bahnschrift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897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A3C0"/>
                </a:solidFill>
                <a:latin typeface="Segoe UI"/>
              </a:rPr>
              <a:t>pillars - one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257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0E5C3"/>
                </a:solidFill>
                <a:latin typeface="Bahnschrift SemiBold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897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FA3C0"/>
                </a:solidFill>
                <a:latin typeface="Segoe UI"/>
              </a:rPr>
              <a:t>on-device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PROBLEM IS THE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EAF2FC"/>
                </a:solidFill>
                <a:latin typeface="Bahnschrift SemiBold"/>
              </a:rPr>
              <a:t>2.2 billion people walk a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E5C3"/>
                </a:solidFill>
                <a:latin typeface="Bahnschrift SemiBold"/>
              </a:rPr>
              <a:t>that was built for eyes.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FA3C0"/>
                </a:solidFill>
                <a:latin typeface="Segoe UI Light"/>
              </a:rPr>
              <a:t>Every commute is a sequence of gambles - crossing, catching, finding, turning. Sound and memory are doing all the seeing.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00400"/>
            <a:ext cx="3378098" cy="24688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200400"/>
            <a:ext cx="3378098" cy="4572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264657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0" i="0">
                <a:solidFill>
                  <a:srgbClr val="00E5C3"/>
                </a:solidFill>
                <a:latin typeface="Bahnschrift SemiBold"/>
              </a:rPr>
              <a:t>2.2B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617720"/>
            <a:ext cx="2646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B7CFF"/>
                </a:solidFill>
                <a:latin typeface="Segoe UI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29200"/>
            <a:ext cx="264657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FA3C0"/>
                </a:solidFill>
                <a:latin typeface="Segoe UI Light"/>
              </a:rPr>
              <a:t>live with a vision impairment worldwide (WHO).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1098" y="3200400"/>
            <a:ext cx="3378098" cy="24688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1098" y="3200400"/>
            <a:ext cx="3378098" cy="4572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858" y="3474720"/>
            <a:ext cx="264657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0" i="0">
                <a:solidFill>
                  <a:srgbClr val="00E5C3"/>
                </a:solidFill>
                <a:latin typeface="Bahnschrift SemiBold"/>
              </a:rPr>
              <a:t>36M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6858" y="4617720"/>
            <a:ext cx="2646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B7CFF"/>
                </a:solidFill>
                <a:latin typeface="Segoe UI"/>
              </a:rPr>
              <a:t>HAVE NO 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6858" y="5029200"/>
            <a:ext cx="264657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FA3C0"/>
                </a:solidFill>
                <a:latin typeface="Segoe UI Light"/>
              </a:rPr>
              <a:t>at all. The world they share is not designed for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6396" y="3200400"/>
            <a:ext cx="3378098" cy="24688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56396" y="3200400"/>
            <a:ext cx="3378098" cy="4572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22156" y="3474720"/>
            <a:ext cx="264657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0" i="0">
                <a:solidFill>
                  <a:srgbClr val="FFB45E"/>
                </a:solidFill>
                <a:latin typeface="Bahnschrift SemiBold"/>
              </a:rPr>
              <a:t>6s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2156" y="4617720"/>
            <a:ext cx="2646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B7CFF"/>
                </a:solidFill>
                <a:latin typeface="Segoe UI"/>
              </a:rPr>
              <a:t>OF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2156" y="5029200"/>
            <a:ext cx="264657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8FA3C0"/>
                </a:solidFill>
                <a:latin typeface="Segoe UI Light"/>
              </a:rPr>
              <a:t>is all narration yields before the ear tunes it 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6080760"/>
            <a:ext cx="10820095" cy="50292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6245352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The real scarcity is not sight. </a:t>
            </a:r>
            <a:r>
              <a:rPr sz="1500" b="1" i="0">
                <a:solidFill>
                  <a:srgbClr val="EAF2FC"/>
                </a:solidFill>
                <a:latin typeface="Segoe UI"/>
              </a:rPr>
              <a:t>It is attention.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PROBLEM - EXISTING TOOLS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Their guide AI talks. Noise, not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FA3C0"/>
                </a:solidFill>
                <a:latin typeface="Segoe UI Light"/>
              </a:rPr>
              <a:t>We analyzed Envision, Seeing AI, Google Lookout, Be My Eyes, Aira, WeWALK, NaviBelt, ASHIRASE, Soundscape and 15 more products + the 2024-25 haptic-navigation literature.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5181447" cy="265176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743200"/>
            <a:ext cx="603504" cy="603504"/>
          </a:xfrm>
          <a:prstGeom prst="ellipse">
            <a:avLst/>
          </a:prstGeom>
          <a:solidFill>
            <a:srgbClr val="FF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070B15"/>
                </a:solidFill>
                <a:latin typeface="Bahnschrif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88920"/>
            <a:ext cx="353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AF2FC"/>
                </a:solidFill>
                <a:latin typeface="Segoe UI"/>
              </a:rPr>
              <a:t>REACTIVE NARRATION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44499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They only describe what you point at them. If you cannot think to ask, you never find out. The 2.2B who need help most get the least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2468880"/>
            <a:ext cx="5181447" cy="265176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90207" y="2743200"/>
            <a:ext cx="603504" cy="603504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0207" y="290779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070B15"/>
                </a:solidFill>
                <a:latin typeface="Bahnschrift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13167" y="2788920"/>
            <a:ext cx="353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EAF2FC"/>
                </a:solidFill>
                <a:latin typeface="Segoe UI"/>
              </a:rPr>
              <a:t>NOTIFICATION FATIGUE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0207" y="3611880"/>
            <a:ext cx="4449927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"Arriving at... arriving at..." Constant narration trains the ear to ignore the voice - exactly when it matters most. Users mute the tool that exists to help them see.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486400"/>
            <a:ext cx="10820095" cy="82296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669280"/>
            <a:ext cx="100885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B45E"/>
                </a:solidFill>
                <a:latin typeface="Segoe UI"/>
              </a:rPr>
              <a:t>THE RESULT:  </a:t>
            </a:r>
            <a:r>
              <a:rPr sz="1700" b="1" i="0">
                <a:solidFill>
                  <a:srgbClr val="EAF2FC"/>
                </a:solidFill>
                <a:latin typeface="Segoe UI"/>
              </a:rPr>
              <a:t>attention, not information, is the scarce resource - and everyone is wasting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GAP - A 2X2 NO ONE OCCUPIES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Nobody occupies this square.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Every competitor is stuck somewhere in the grey. Sentinel is alone in the bright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6577A"/>
                </a:solidFill>
                <a:latin typeface="Consolas"/>
              </a:rPr>
              <a:t>REACTIVE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2775" y="21031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0E5C3"/>
                </a:solidFill>
                <a:latin typeface="Consolas"/>
              </a:rPr>
              <a:t>PROACTIVE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8455" y="61447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00E5C3"/>
                </a:solidFill>
                <a:latin typeface="Consolas"/>
              </a:rPr>
              <a:t>HAPTIC-FIRST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447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6577A"/>
                </a:solidFill>
                <a:latin typeface="Consolas"/>
              </a:rPr>
              <a:t>NARRATION-FIRST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95728"/>
            <a:ext cx="10820095" cy="3657600"/>
          </a:xfrm>
          <a:prstGeom prst="rect">
            <a:avLst/>
          </a:prstGeom>
          <a:noFill/>
          <a:ln w="1524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5847" y="2395728"/>
            <a:ext cx="0" cy="3657600"/>
          </a:xfrm>
          <a:prstGeom prst="rect">
            <a:avLst/>
          </a:prstGeom>
          <a:noFill/>
          <a:ln w="1524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10820095" cy="0"/>
          </a:xfrm>
          <a:prstGeom prst="rect">
            <a:avLst/>
          </a:prstGeom>
          <a:noFill/>
          <a:ln w="1524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2606040"/>
            <a:ext cx="4843119" cy="1371600"/>
          </a:xfrm>
          <a:prstGeom prst="roundRect">
            <a:avLst/>
          </a:prstGeom>
          <a:solidFill>
            <a:srgbClr val="080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852928"/>
            <a:ext cx="4541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6577A"/>
                </a:solidFill>
                <a:latin typeface="Segoe UI"/>
              </a:rPr>
              <a:t>Seeing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45413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narrates everything you point at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167" y="2606040"/>
            <a:ext cx="4843119" cy="1371600"/>
          </a:xfrm>
          <a:prstGeom prst="roundRect">
            <a:avLst/>
          </a:prstGeom>
          <a:solidFill>
            <a:srgbClr val="080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8767" y="2852928"/>
            <a:ext cx="4541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6577A"/>
                </a:solidFill>
                <a:latin typeface="Segoe UI"/>
              </a:rPr>
              <a:t>Be My Eyes / Aira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767" y="3520440"/>
            <a:ext cx="45413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a human on the other end of your camera.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434840"/>
            <a:ext cx="4843119" cy="1371600"/>
          </a:xfrm>
          <a:prstGeom prst="roundRect">
            <a:avLst/>
          </a:prstGeom>
          <a:solidFill>
            <a:srgbClr val="080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681728"/>
            <a:ext cx="4541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6577A"/>
                </a:solidFill>
                <a:latin typeface="Segoe UI"/>
              </a:rPr>
              <a:t>WeWALK / NaviBelt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45413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haptic hardware, but single-purpose and blindness-only sensors.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4389120"/>
            <a:ext cx="4769967" cy="1316736"/>
          </a:xfrm>
          <a:prstGeom prst="roundRect">
            <a:avLst/>
          </a:prstGeom>
          <a:solidFill>
            <a:srgbClr val="0D2628"/>
          </a:solidFill>
          <a:ln w="279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3047" y="4617720"/>
            <a:ext cx="44956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00E5C3"/>
                </a:solidFill>
                <a:latin typeface="Bahnschrift SemiBold"/>
              </a:rPr>
              <a:t>SENTINEL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49564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AF2FC"/>
                </a:solidFill>
                <a:latin typeface="Segoe UI Light"/>
              </a:rPr>
              <a:t>proactive ambient sensing  +  haptic-first  +  on-device  +  silence-first salience.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199632"/>
            <a:ext cx="10820095" cy="603504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6364224"/>
            <a:ext cx="100885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B45E"/>
                </a:solidFill>
                <a:latin typeface="Segoe UI"/>
              </a:rPr>
              <a:t>ONE product.  FOUR capabilities.  THAT is the entire gap.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CORE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EAF2FC"/>
                </a:solidFill>
                <a:latin typeface="Bahnschrift SemiBold"/>
              </a:rPr>
              <a:t>Silence is not the absence of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00E5C3"/>
                </a:solidFill>
                <a:latin typeface="Bahnschrift SemiBold"/>
              </a:rPr>
              <a:t>It is the product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We inverted the assistive-tech model: instead of narrate-everything, Sentinel scores every event by imminence x actionability x non-redundancy - and surfaces the ONE thing that matters, only when it matters. Everything else is logged, never spoken.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1798259" cy="868680"/>
          </a:xfrm>
          <a:prstGeom prst="roundRect">
            <a:avLst/>
          </a:prstGeom>
          <a:solidFill>
            <a:srgbClr val="00E5C3"/>
          </a:solidFill>
          <a:ln w="1778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1798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70B15"/>
                </a:solidFill>
                <a:latin typeface="Bahnschrift SemiBold"/>
              </a:rP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2619" y="38404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B45E"/>
                </a:solidFill>
                <a:latin typeface="Consola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1259" y="3657600"/>
            <a:ext cx="1798259" cy="868680"/>
          </a:xfrm>
          <a:prstGeom prst="roundRect">
            <a:avLst/>
          </a:prstGeom>
          <a:solidFill>
            <a:srgbClr val="FFB45E"/>
          </a:solidFill>
          <a:ln w="1778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1259" y="3931920"/>
            <a:ext cx="1798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070B15"/>
                </a:solidFill>
                <a:latin typeface="Bahnschrift SemiBold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078" y="38404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B45E"/>
                </a:solidFill>
                <a:latin typeface="Consola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6718" y="3657600"/>
            <a:ext cx="1798259" cy="868680"/>
          </a:xfrm>
          <a:prstGeom prst="roundRect">
            <a:avLst/>
          </a:prstGeom>
          <a:solidFill>
            <a:srgbClr val="0E1628"/>
          </a:solidFill>
          <a:ln w="1778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6718" y="3931920"/>
            <a:ext cx="1798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EAF2FC"/>
                </a:solidFill>
                <a:latin typeface="Bahnschrift SemiBold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537" y="38404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B45E"/>
                </a:solidFill>
                <a:latin typeface="Consola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177" y="3657600"/>
            <a:ext cx="1798259" cy="868680"/>
          </a:xfrm>
          <a:prstGeom prst="roundRect">
            <a:avLst/>
          </a:prstGeom>
          <a:solidFill>
            <a:srgbClr val="131E36"/>
          </a:solidFill>
          <a:ln w="1778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177" y="3931920"/>
            <a:ext cx="1798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EAF2FC"/>
                </a:solidFill>
                <a:latin typeface="Bahnschrift SemiBold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8996" y="384048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B45E"/>
                </a:solidFill>
                <a:latin typeface="Consola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07636" y="3657600"/>
            <a:ext cx="1798259" cy="868680"/>
          </a:xfrm>
          <a:prstGeom prst="roundRect">
            <a:avLst/>
          </a:prstGeom>
          <a:solidFill>
            <a:srgbClr val="8B7CFF"/>
          </a:solidFill>
          <a:ln w="1778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07636" y="3931920"/>
            <a:ext cx="17982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EAF2FC"/>
                </a:solidFill>
                <a:latin typeface="Bahnschrift SemiBold"/>
              </a:rPr>
              <a:t>SILENCE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Every down-voted alert is stored in the Silence Log - visible proof Sentinel is watching, choosing, and deliberately staying quiet.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623560"/>
            <a:ext cx="10820095" cy="18288"/>
          </a:xfrm>
          <a:prstGeom prst="rect">
            <a:avLst/>
          </a:prstGeom>
          <a:solidFill>
            <a:srgbClr val="1E2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58978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F2FC"/>
                </a:solidFill>
                <a:latin typeface="Segoe UI"/>
              </a:rPr>
              <a:t>THE HEADLINE COMPETITORS CANNOT PRINT:  </a:t>
            </a:r>
            <a:r>
              <a:rPr sz="1600" b="1" i="0">
                <a:solidFill>
                  <a:srgbClr val="00E5C3"/>
                </a:solidFill>
                <a:latin typeface="Segoe UI"/>
              </a:rPr>
              <a:t>attention saved.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HOW IT WORKS - THE SALIENCE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A salience brain, not a vision app.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74519"/>
            <a:ext cx="640080" cy="64008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70B15"/>
                </a:solidFill>
                <a:latin typeface="Bahnschrift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67128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Webcam YOLOv8-nano + MiDaS depth, or a simulated city - cars, crowds, approach velocity, kerbs. On-device.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70632"/>
            <a:ext cx="640080" cy="640080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79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70B15"/>
                </a:solidFill>
                <a:latin typeface="Bahnschrift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724911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SALIENCE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63239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Perception.decide() scores imminence, actionability and redundancy on every event.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66744"/>
            <a:ext cx="640080" cy="640080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2219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70B15"/>
                </a:solidFill>
                <a:latin typeface="Bahnschrift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62102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959352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Surfaces the single most important item - only when it matters. Rejects go to the Silence Log.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562855"/>
            <a:ext cx="640080" cy="64008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1830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70B15"/>
                </a:solidFill>
                <a:latin typeface="Bahnschrift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51713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HAPTIC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855464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Direction + urgency pulses on the wearable belt. No listening tax, no ear fatigue.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458968"/>
            <a:ext cx="640080" cy="640080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70B15"/>
                </a:solidFill>
                <a:latin typeface="Bahnschrift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4132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VOICE LAST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751576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One precise earned line - "Turn right - the cafe, 32 meters." Then silence.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61288" y="2331720"/>
            <a:ext cx="18288" cy="3291840"/>
          </a:xfrm>
          <a:prstGeom prst="rect">
            <a:avLst/>
          </a:prstGeom>
          <a:solidFill>
            <a:srgbClr val="465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26480" y="1920240"/>
            <a:ext cx="5394960" cy="3063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26480" y="1920240"/>
            <a:ext cx="54864" cy="306324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2084831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46577A"/>
                </a:solidFill>
                <a:latin typeface="Consolas"/>
              </a:rPr>
              <a:t>the whole brain, in 7 lines</a:t>
            </a:r>
          </a:p>
        </p:txBody>
      </p:sp>
      <p:pic>
        <p:nvPicPr>
          <p:cNvPr id="30" name="Picture 29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43200"/>
            <a:ext cx="4754880" cy="139674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LIVE DEMO - DEPLOYED,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This is running 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Not a mockup. An installable PWA that works fully offline - camera, YOLO, depth, haptics, voice.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181447" cy="17830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167128"/>
            <a:ext cx="45720" cy="173736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rame_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313432"/>
            <a:ext cx="246888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2350008"/>
            <a:ext cx="22553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AUTO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15768"/>
            <a:ext cx="225536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FA3C0"/>
                </a:solidFill>
                <a:latin typeface="Segoe UI Light"/>
              </a:rPr>
              <a:t>Sentinel walks ITSELF through the plaza - crosswalk, exit, keys, cafe, loop-close.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2148840"/>
            <a:ext cx="5181447" cy="17830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4447" y="2167128"/>
            <a:ext cx="45720" cy="1737360"/>
          </a:xfrm>
          <a:prstGeom prst="rect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rame_gu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039" y="2313432"/>
            <a:ext cx="246888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67647" y="2350008"/>
            <a:ext cx="22553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GUIDED NAV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7647" y="2715768"/>
            <a:ext cx="225536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FA3C0"/>
                </a:solidFill>
                <a:latin typeface="Segoe UI Light"/>
              </a:rPr>
              <a:t>Nearest landmark, spoken side + distance nudges ("Turn right - the cafe, 32m").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23360"/>
            <a:ext cx="5181447" cy="17830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041648"/>
            <a:ext cx="45720" cy="1737360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rame_mem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187952"/>
            <a:ext cx="2468880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29000" y="4224528"/>
            <a:ext cx="22553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VOICE +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90288"/>
            <a:ext cx="225536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FA3C0"/>
                </a:solidFill>
                <a:latin typeface="Segoe UI Light"/>
              </a:rPr>
              <a:t>Say "where are my keys" - routed to the Memory Palace, answered.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7" y="4023360"/>
            <a:ext cx="5181447" cy="17830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24447" y="4041648"/>
            <a:ext cx="45720" cy="1737360"/>
          </a:xfrm>
          <a:prstGeom prst="rect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ho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039" y="4187952"/>
            <a:ext cx="2468880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67647" y="4224528"/>
            <a:ext cx="22553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THE FULL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7647" y="4590288"/>
            <a:ext cx="225536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8FA3C0"/>
                </a:solidFill>
                <a:latin typeface="Segoe UI Light"/>
              </a:rPr>
              <a:t>Dark HUD, Silence Log, pillar tabs, haptic belt ring, in-browser radar.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943600"/>
            <a:ext cx="1371600" cy="438912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6062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DEPLOYED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67128" y="5943600"/>
            <a:ext cx="1371600" cy="438912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67128" y="6062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OFFLINE-FIRST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48456" y="5943600"/>
            <a:ext cx="1371600" cy="438912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48456" y="6062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INSTALLABLE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9784" y="5943600"/>
            <a:ext cx="1371600" cy="438912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9784" y="6062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0 DEPENDENCIES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11112" y="5943600"/>
            <a:ext cx="1371600" cy="438912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60624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00E5C3"/>
                </a:solidFill>
                <a:latin typeface="Consolas"/>
              </a:rPr>
              <a:t>ON-DEVICE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2004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46577A"/>
                </a:solidFill>
                <a:latin typeface="Segoe UI"/>
              </a:rPr>
              <a:t>press 0 = AUTO TOUR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FOUR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One brain. Four domains.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A single salience engine serving every part of a daily life.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5181447" cy="16276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2542032"/>
            <a:ext cx="1005840" cy="100584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70B15"/>
                </a:solidFill>
                <a:latin typeface="Bahnschrif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523744"/>
            <a:ext cx="3444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F2FC"/>
                </a:solidFill>
                <a:latin typeface="Bahnschrift SemiBold"/>
              </a:rPr>
              <a:t>GUARDIAN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944368"/>
            <a:ext cx="3444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0E5C3"/>
                </a:solidFill>
                <a:latin typeface="Consolas"/>
              </a:rPr>
              <a:t>SAFETY /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675887"/>
            <a:ext cx="4358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A3C0"/>
                </a:solidFill>
                <a:latin typeface="Segoe UI Light"/>
              </a:rPr>
              <a:t>Traffic alerts, obstacle avoidance, path finding. The watch that never blinks.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2286000"/>
            <a:ext cx="5181447" cy="16276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98767" y="2542032"/>
            <a:ext cx="1005840" cy="1005840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98767" y="276148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70B15"/>
                </a:solidFill>
                <a:latin typeface="Bahnschrift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775" y="2523744"/>
            <a:ext cx="3444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F2FC"/>
                </a:solidFill>
                <a:latin typeface="Bahnschrift SemiBold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5775" y="2944368"/>
            <a:ext cx="3444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8B7CFF"/>
                </a:solidFill>
                <a:latin typeface="Consolas"/>
              </a:rPr>
              <a:t>COGNITION /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5343" y="3675887"/>
            <a:ext cx="4358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A3C0"/>
                </a:solidFill>
                <a:latin typeface="Segoe UI Light"/>
              </a:rPr>
              <a:t>Memory Palace - "did I leave my keys?" - plus beacon-free visual SLAM.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023360"/>
            <a:ext cx="5181447" cy="16276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4279392"/>
            <a:ext cx="1005840" cy="1005840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49884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70B15"/>
                </a:solidFill>
                <a:latin typeface="Bahnschrift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261104"/>
            <a:ext cx="3444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F2FC"/>
                </a:solidFill>
                <a:latin typeface="Bahnschrift SemiBold"/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7128" y="4681728"/>
            <a:ext cx="3444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B45E"/>
                </a:solidFill>
                <a:latin typeface="Consolas"/>
              </a:rP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5413248"/>
            <a:ext cx="4358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A3C0"/>
                </a:solidFill>
                <a:latin typeface="Segoe UI Light"/>
              </a:rPr>
              <a:t>Remote pilot: a trusted contact sees through your eyes, in real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4023360"/>
            <a:ext cx="5181447" cy="16276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98767" y="4279392"/>
            <a:ext cx="1005840" cy="1005840"/>
          </a:xfrm>
          <a:prstGeom prst="ellipse">
            <a:avLst/>
          </a:prstGeom>
          <a:solidFill>
            <a:srgbClr val="FF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8767" y="4498848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070B15"/>
                </a:solidFill>
                <a:latin typeface="Bahnschrift SemiBol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5775" y="4261104"/>
            <a:ext cx="34440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F2FC"/>
                </a:solidFill>
                <a:latin typeface="Bahnschrift SemiBold"/>
              </a:rPr>
              <a:t>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5775" y="4681728"/>
            <a:ext cx="34440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5B6E"/>
                </a:solidFill>
                <a:latin typeface="Consolas"/>
              </a:rPr>
              <a:t>BODY / ECOSYSTEM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5343" y="5413248"/>
            <a:ext cx="43584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A3C0"/>
                </a:solidFill>
                <a:latin typeface="Segoe UI Light"/>
              </a:rPr>
              <a:t>Heart rate (rPPG) + medication reminders. Health that hides in the background.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STACK - PRIVACY BY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Everything on-device. Zero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A server is a liability, not a feature. Vanilla JS ES-modules + WebAssembly.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423160"/>
            <a:ext cx="347472" cy="347472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236829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YOLOv8-nano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4261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real-time detection in the browser via onnxruntime-web (WASM)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224028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25615" y="2423160"/>
            <a:ext cx="347472" cy="347472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0247" y="236829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MiDaS v3.0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247" y="264261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monocular depth to real meters, fused with YOLO boxes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86968" y="3246120"/>
            <a:ext cx="347472" cy="347472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19125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Visual SLAM-lite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6557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dead reckoning + loop closure - position belief with sigma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06324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25615" y="3246120"/>
            <a:ext cx="347472" cy="347472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0247" y="319125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Kinesthesis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247" y="346557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posture + approach intent from physics only - never 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8620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" y="4069080"/>
            <a:ext cx="347472" cy="347472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4014215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Haven haptics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28853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NaviBelt direction + urgency: vibrate, spatial audio, motor plug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388620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25615" y="4069080"/>
            <a:ext cx="347472" cy="347472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10247" y="4014215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Voice +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247" y="428853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one-shot Web Speech input; turn-by-turn nudges with haptics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70916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86968" y="4892040"/>
            <a:ext cx="347472" cy="347472"/>
          </a:xfrm>
          <a:prstGeom prst="ellipse">
            <a:avLst/>
          </a:prstGeom>
          <a:solidFill>
            <a:srgbClr val="FF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483717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1149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GPS / compass / accelerometer merged with SLAM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24447" y="4709160"/>
            <a:ext cx="5181447" cy="713232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25615" y="4892040"/>
            <a:ext cx="347472" cy="347472"/>
          </a:xfrm>
          <a:prstGeom prst="ellipse">
            <a:avLst/>
          </a:prstGeom>
          <a:solidFill>
            <a:srgbClr val="FF5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10247" y="4837176"/>
            <a:ext cx="43127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F2FC"/>
                </a:solidFill>
                <a:latin typeface="Segoe UI"/>
              </a:rPr>
              <a:t>PWA + Capacitor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0247" y="5111496"/>
            <a:ext cx="43127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 i="0">
                <a:solidFill>
                  <a:srgbClr val="8FA3C0"/>
                </a:solidFill>
                <a:latin typeface="Segoe UI Light"/>
              </a:rPr>
              <a:t>offline service worker, manifest, installable, native shell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623560"/>
            <a:ext cx="10820095" cy="777240"/>
          </a:xfrm>
          <a:prstGeom prst="roundRect">
            <a:avLst/>
          </a:prstGeom>
          <a:solidFill>
            <a:srgbClr val="0D2628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9848" y="5806440"/>
            <a:ext cx="100428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E5C3"/>
                </a:solidFill>
                <a:latin typeface="Segoe UI"/>
              </a:rPr>
              <a:t>PRIVACY BY PHYSICS:  </a:t>
            </a:r>
            <a:r>
              <a:rPr sz="1600" b="0" i="0">
                <a:solidFill>
                  <a:srgbClr val="EAF2FC"/>
                </a:solidFill>
                <a:latin typeface="Segoe UI Light"/>
              </a:rPr>
              <a:t>scenes, keys and health data never leave the phone. The camera is the only sensor.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THE PROOF THAT BREAKS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We prove it works by showing the silence.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The Silence Log is the competitor-impossible feature: knowing when NOT to speak.</a:t>
            </a:r>
          </a:p>
        </p:txBody>
      </p:sp>
      <p:pic>
        <p:nvPicPr>
          <p:cNvPr id="7" name="Picture 6" descr="console_si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5806440" cy="30056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22860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46577A"/>
                </a:solidFill>
                <a:latin typeface="Consolas"/>
              </a:rPr>
              <a:t>THE METRIC EVERYONE IGNORES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0604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FFB45E"/>
                </a:solidFill>
                <a:latin typeface="Bahnschrift SemiBold"/>
              </a:rPr>
              <a:t>ATTENTION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65760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Every good no-speech is a prevented interruption. Sentinel converts the world into decisions, and only the right one becomes sound.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709160"/>
            <a:ext cx="4572000" cy="141732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59" y="493776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8FA3C0"/>
                </a:solidFill>
                <a:latin typeface="Consolas"/>
              </a:rPr>
              <a:t>"car (far)"  -&gt;  silent.  
</a:t>
            </a:r>
            <a:r>
              <a:rPr sz="1600" b="1" i="0">
                <a:solidFill>
                  <a:srgbClr val="00E5C3"/>
                </a:solidFill>
                <a:latin typeface="Consolas"/>
              </a:rPr>
              <a:t>"crosswalk OPEN"  -&gt;  ONE earned line.  </a:t>
            </a:r>
            <a:r>
              <a:rPr sz="1600" b="0" i="0">
                <a:solidFill>
                  <a:srgbClr val="8FA3C0"/>
                </a:solidFill>
                <a:latin typeface="Consolas"/>
              </a:rPr>
              <a:t>
</a:t>
            </a:r>
            <a:r>
              <a:rPr sz="1600" b="0" i="0">
                <a:solidFill>
                  <a:srgbClr val="8FA3C0"/>
                </a:solidFill>
                <a:latin typeface="Segoe UI Light"/>
              </a:rPr>
              <a:t>then silence again.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F2FC"/>
                </a:solidFill>
                <a:latin typeface="Bahnschrift SemiBold"/>
              </a:rPr>
              <a:t>Prototype proven. Field is the last mile.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The salience-first difference already works in the browser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378098" cy="28346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6209" y="2651760"/>
            <a:ext cx="1097280" cy="109728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6209" y="28529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070B15"/>
                </a:solidFill>
                <a:latin typeface="Bahnschrift SemiBold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26465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EAF2FC"/>
                </a:solidFill>
                <a:latin typeface="Segoe UI"/>
              </a:rPr>
              <a:t>Hardware spine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2555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Swap the in-browser haptic stand-in for a LiDAR phone + a real wearable at Haven.pulse().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1098" y="2377440"/>
            <a:ext cx="3378098" cy="28346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61507" y="2651760"/>
            <a:ext cx="1097280" cy="1097280"/>
          </a:xfrm>
          <a:prstGeom prst="ellipse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1507" y="28529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070B15"/>
                </a:solidFill>
                <a:latin typeface="Bahnschrift SemiBold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6858" y="3977639"/>
            <a:ext cx="26465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EAF2FC"/>
                </a:solidFill>
                <a:latin typeface="Segoe UI"/>
              </a:rPr>
              <a:t>Field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2578" y="4480560"/>
            <a:ext cx="2555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20 blind users, 4 weeks, real streets. Measure attention-saved vs. narrator apps.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6396" y="2377440"/>
            <a:ext cx="3378098" cy="28346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96806" y="2651760"/>
            <a:ext cx="1097280" cy="1097280"/>
          </a:xfrm>
          <a:prstGeom prst="ellipse">
            <a:avLst/>
          </a:prstGeom>
          <a:solidFill>
            <a:srgbClr val="8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6806" y="28529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070B15"/>
                </a:solidFill>
                <a:latin typeface="Bahnschrift SemiBold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2156" y="3977639"/>
            <a:ext cx="26465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EAF2FC"/>
                </a:solidFill>
                <a:latin typeface="Segoe UI"/>
              </a:rPr>
              <a:t>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7876" y="4480560"/>
            <a:ext cx="255513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FA3C0"/>
                </a:solidFill>
                <a:latin typeface="Segoe UI Light"/>
              </a:rPr>
              <a:t>Remote-pilot network + pharmacy translation (EN-Hindi) already prototyped.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23560"/>
            <a:ext cx="10820095" cy="68580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806440"/>
            <a:ext cx="100885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AF2FC"/>
                </a:solidFill>
                <a:latin typeface="Segoe UI"/>
              </a:rPr>
              <a:t>The differentiator - salience before speech - is shipped. </a:t>
            </a:r>
            <a:r>
              <a:rPr sz="1500" b="1" i="0">
                <a:solidFill>
                  <a:srgbClr val="00E5C3"/>
                </a:solidFill>
                <a:latin typeface="Segoe UI"/>
              </a:rPr>
              <a:t>The field is the last mile.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0292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6968" y="4754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WHY SENTINEL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7899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EAF2FC"/>
                </a:solidFill>
                <a:latin typeface="Bahnschrift SemiBold"/>
              </a:rPr>
              <a:t>Judge the gap, not the polish.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9144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FA3C0"/>
                </a:solidFill>
                <a:latin typeface="Segoe UI Light"/>
              </a:rPr>
              <a:t>We stand on a working, deployed, offline-first prototype - and real recordings against the real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10820095" cy="91440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2560320"/>
            <a:ext cx="548640" cy="54864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61518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70B15"/>
                </a:solidFill>
                <a:latin typeface="Bahnschrif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05456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Silence-first salience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651760"/>
            <a:ext cx="5242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FA3C0"/>
                </a:solidFill>
                <a:latin typeface="Segoe UI Light"/>
              </a:rPr>
              <a:t>the brain competitors do not have - known-when-NOT-to-speak.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20095" cy="91440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1832" y="3611880"/>
            <a:ext cx="548640" cy="54864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66674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70B15"/>
                </a:solidFill>
                <a:latin typeface="Bahnschrift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6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On-device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703320"/>
            <a:ext cx="5242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FA3C0"/>
                </a:solidFill>
                <a:latin typeface="Segoe UI Light"/>
              </a:rPr>
              <a:t>privacy by physics - scenes, keys, health never upload.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80560"/>
            <a:ext cx="10820095" cy="91440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E2B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1832" y="4663440"/>
            <a:ext cx="548640" cy="548640"/>
          </a:xfrm>
          <a:prstGeom prst="ellipse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718304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70B15"/>
                </a:solidFill>
                <a:latin typeface="Bahnschrift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608576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AF2FC"/>
                </a:solidFill>
                <a:latin typeface="Segoe UI"/>
              </a:rPr>
              <a:t>Deployed + demonstrable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754880"/>
            <a:ext cx="52422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FA3C0"/>
                </a:solidFill>
                <a:latin typeface="Segoe UI Light"/>
              </a:rPr>
              <a:t>PWA live, 3 demo recordings, narrated walkthrough, 23/23 smoke tests green.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760720"/>
            <a:ext cx="10820095" cy="59436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00E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5925312"/>
            <a:ext cx="7894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B45E"/>
                </a:solidFill>
                <a:latin typeface="Segoe UI"/>
              </a:rPr>
              <a:t>Take 40 seconds: </a:t>
            </a:r>
            <a:r>
              <a:rPr sz="1500" b="1" i="0">
                <a:solidFill>
                  <a:srgbClr val="EAF2FC"/>
                </a:solidFill>
                <a:latin typeface="Consolas"/>
              </a:rPr>
              <a:t>sanju-zxt.github.io/sentinel-prototype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E5C3"/>
                </a:solidFill>
                <a:latin typeface="Segoe UI"/>
              </a:rPr>
              <a:t>SENTINEL</a:t>
            </a:r>
            <a:r>
              <a:rPr sz="1000" b="0" i="0">
                <a:solidFill>
                  <a:srgbClr val="46577A"/>
                </a:solidFill>
                <a:latin typeface="Segoe UI"/>
              </a:rPr>
              <a:t>   /  silence-first, because attention is the scarce 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4465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46577A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B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82296" cy="237744"/>
          </a:xfrm>
          <a:prstGeom prst="rect">
            <a:avLst/>
          </a:prstGeom>
          <a:solidFill>
            <a:srgbClr val="00E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80136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E5C3"/>
                </a:solidFill>
                <a:latin typeface="Segoe UI"/>
              </a:rP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1">
                <a:solidFill>
                  <a:srgbClr val="EAF2FC"/>
                </a:solidFill>
                <a:latin typeface="Georgia"/>
              </a:rPr>
              <a:t>"The best accessibility feature is </a:t>
            </a:r>
            <a:r>
              <a:rPr sz="3400" b="0" i="1">
                <a:solidFill>
                  <a:srgbClr val="00E5C3"/>
                </a:solidFill>
                <a:latin typeface="Georgia"/>
              </a:rPr>
              <a:t>one you never notice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39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EAF2FC"/>
                </a:solidFill>
                <a:latin typeface="Bahnschrift SemiBold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6636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8FA3C0"/>
                </a:solidFill>
                <a:latin typeface="Segoe UI Light"/>
              </a:rPr>
              <a:t>Sentinel - silence-first, because attention is the scarce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43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E5C3"/>
                </a:solidFill>
                <a:latin typeface="Consolas"/>
              </a:rPr>
              <a:t>sanju-zxt.github.io/sentinel-prototype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1400</Words>
  <Application>Microsoft Office PowerPoint</Application>
  <PresentationFormat>Widescreen</PresentationFormat>
  <Paragraphs>201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 SemiBold</vt:lpstr>
      <vt:lpstr>Calibri</vt:lpstr>
      <vt:lpstr>Consolas</vt:lpstr>
      <vt:lpstr>Georgia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Sanju !</cp:lastModifiedBy>
  <cp:revision>2</cp:revision>
  <dcterms:created xsi:type="dcterms:W3CDTF">2013-01-27T09:14:16Z</dcterms:created>
  <dcterms:modified xsi:type="dcterms:W3CDTF">2026-09-19T18:04:17Z</dcterms:modified>
  <cp:category/>
</cp:coreProperties>
</file>